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7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45a06104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45a06104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3cbb3a3f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3cbb3a3f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3cbb3a3f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3cbb3a3f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3cbb3a3f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3cbb3a3f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3cbb3a3f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3cbb3a3f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cbb3a3f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3cbb3a3f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3cbb3a3f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3cbb3a3f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3cbb3a3f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3cbb3a3f8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45a06104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45a06104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3cbb3a3f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3cbb3a3f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6032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1F3B73"/>
                </a:solidFill>
                <a:latin typeface="Montserrat"/>
                <a:ea typeface="Montserrat"/>
                <a:cs typeface="Montserrat"/>
                <a:sym typeface="Montserrat"/>
              </a:rPr>
              <a:t>Time-Wasters on Social Media</a:t>
            </a:r>
            <a:endParaRPr sz="4400" b="1">
              <a:solidFill>
                <a:srgbClr val="1F3B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9945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0">
                <a:solidFill>
                  <a:srgbClr val="2AA19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Analysis of Usage Patterns, Addiction &amp; Productivity Loss</a:t>
            </a:r>
            <a:endParaRPr sz="2350">
              <a:solidFill>
                <a:srgbClr val="2AA19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48950" y="4260075"/>
            <a:ext cx="4046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Presented by</a:t>
            </a: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Shafana Shereef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Date</a:t>
            </a: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29 September 2025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1984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F3B73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sz="3600" b="1">
              <a:solidFill>
                <a:srgbClr val="1F3B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0" y="932100"/>
            <a:ext cx="9144000" cy="40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"Time-Wasters on Social Media" dataset provides a</a:t>
            </a:r>
            <a:r>
              <a:rPr lang="en" sz="1600">
                <a:solidFill>
                  <a:srgbClr val="333333"/>
                </a:solidFill>
              </a:rPr>
              <a:t> </a:t>
            </a:r>
            <a:r>
              <a:rPr lang="en" sz="1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detailed view of user behavior and engagement</a:t>
            </a:r>
            <a:r>
              <a:rPr lang="en" sz="1600">
                <a:solidFill>
                  <a:srgbClr val="333333"/>
                </a:solidFill>
              </a:rPr>
              <a:t> </a:t>
            </a: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across multiple social media platforms.</a:t>
            </a:r>
            <a:br>
              <a:rPr lang="en" sz="1600">
                <a:solidFill>
                  <a:srgbClr val="333333"/>
                </a:solidFill>
              </a:rPr>
            </a:br>
            <a:endParaRPr sz="1600">
              <a:solidFill>
                <a:srgbClr val="333333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Includes information on</a:t>
            </a:r>
            <a:r>
              <a:rPr lang="en" sz="1600">
                <a:solidFill>
                  <a:srgbClr val="333333"/>
                </a:solidFill>
              </a:rPr>
              <a:t> </a:t>
            </a:r>
            <a:r>
              <a:rPr lang="en" sz="1600" b="1">
                <a:solidFill>
                  <a:srgbClr val="333333"/>
                </a:solidFill>
              </a:rPr>
              <a:t>d</a:t>
            </a:r>
            <a:r>
              <a:rPr lang="en" sz="1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emographics, socio-economic status, device usage, platform interactions, and content engagement metrics</a:t>
            </a: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" sz="1600">
                <a:solidFill>
                  <a:srgbClr val="333333"/>
                </a:solidFill>
              </a:rPr>
            </a:br>
            <a:endParaRPr sz="1600">
              <a:solidFill>
                <a:srgbClr val="333333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Captures measures such as</a:t>
            </a:r>
            <a:r>
              <a:rPr lang="en" sz="1600">
                <a:solidFill>
                  <a:srgbClr val="333333"/>
                </a:solidFill>
              </a:rPr>
              <a:t> </a:t>
            </a:r>
            <a:r>
              <a:rPr lang="en" sz="1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total time spent, session counts, video engagement, addiction levels, productivity loss, and satisfaction</a:t>
            </a: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" sz="1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Created using synthetic data</a:t>
            </a:r>
            <a:r>
              <a:rPr lang="en" sz="1600">
                <a:solidFill>
                  <a:srgbClr val="333333"/>
                </a:solidFill>
              </a:rPr>
              <a:t> with</a:t>
            </a:r>
            <a:r>
              <a:rPr lang="en" sz="1600">
                <a:solidFill>
                  <a:srgbClr val="2AA19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600" b="1">
                <a:solidFill>
                  <a:srgbClr val="2AA198"/>
                </a:solidFill>
                <a:latin typeface="Montserrat"/>
                <a:ea typeface="Montserrat"/>
                <a:cs typeface="Montserrat"/>
                <a:sym typeface="Montserrat"/>
              </a:rPr>
              <a:t>pandas, matplotlib, and seaborn</a:t>
            </a:r>
            <a:r>
              <a:rPr lang="en" sz="1600">
                <a:solidFill>
                  <a:srgbClr val="333333"/>
                </a:solidFill>
              </a:rPr>
              <a:t> to simulate realistic </a:t>
            </a: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usage patterns for research and analysis.</a:t>
            </a:r>
            <a:br>
              <a:rPr lang="en" sz="1600">
                <a:solidFill>
                  <a:srgbClr val="333333"/>
                </a:solidFill>
              </a:rPr>
            </a:br>
            <a:endParaRPr sz="1600">
              <a:solidFill>
                <a:srgbClr val="333333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Char char="●"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Useful for </a:t>
            </a:r>
            <a:r>
              <a:rPr lang="en" sz="1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researchers, marketers, and social scientists</a:t>
            </a:r>
            <a:r>
              <a:rPr lang="en" sz="1600">
                <a:solidFill>
                  <a:srgbClr val="333333"/>
                </a:solidFill>
              </a:rPr>
              <a:t> </a:t>
            </a: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to explore</a:t>
            </a:r>
            <a:r>
              <a:rPr lang="en" sz="1600">
                <a:solidFill>
                  <a:srgbClr val="333333"/>
                </a:solidFill>
              </a:rPr>
              <a:t> </a:t>
            </a:r>
            <a:r>
              <a:rPr lang="en" sz="1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how social media affects habits, productivity, and decision-making</a:t>
            </a: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61625" y="168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F3B73"/>
                </a:solidFill>
                <a:highlight>
                  <a:srgbClr val="F5F5F5"/>
                </a:highlight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sz="3600" b="1">
              <a:solidFill>
                <a:srgbClr val="1F3B73"/>
              </a:solidFill>
              <a:highlight>
                <a:srgbClr val="F5F5F5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61625" y="825838"/>
            <a:ext cx="8520600" cy="44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2AA198"/>
                </a:solidFill>
                <a:highlight>
                  <a:srgbClr val="F5F5F5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1. Analyze Platform-Wise Usage Patterns</a:t>
            </a:r>
            <a:endParaRPr dirty="0">
              <a:solidFill>
                <a:srgbClr val="2AA198"/>
              </a:solidFill>
              <a:highlight>
                <a:srgbClr val="F5F5F5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333333"/>
                </a:solidFill>
                <a:highlight>
                  <a:srgbClr val="F5F5F5"/>
                </a:highlight>
                <a:latin typeface="Montserrat"/>
                <a:ea typeface="Montserrat"/>
                <a:cs typeface="Montserrat"/>
                <a:sym typeface="Montserrat"/>
              </a:rPr>
              <a:t>Determine which social media platforms consume the most user time and identify trends across Facebook, Instagram, YouTube, and TikTok.</a:t>
            </a:r>
            <a:endParaRPr sz="1250" dirty="0">
              <a:solidFill>
                <a:srgbClr val="333333"/>
              </a:solidFill>
              <a:highlight>
                <a:srgbClr val="F5F5F5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7620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2AA198"/>
                </a:solidFill>
                <a:highlight>
                  <a:srgbClr val="F5F5F5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2. Assess Demographic Influences</a:t>
            </a:r>
            <a:endParaRPr dirty="0">
              <a:solidFill>
                <a:srgbClr val="2AA198"/>
              </a:solidFill>
              <a:highlight>
                <a:srgbClr val="F5F5F5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333333"/>
                </a:solidFill>
                <a:highlight>
                  <a:srgbClr val="F5F5F5"/>
                </a:highlight>
                <a:latin typeface="Montserrat"/>
                <a:ea typeface="Montserrat"/>
                <a:cs typeface="Montserrat"/>
                <a:sym typeface="Montserrat"/>
              </a:rPr>
              <a:t>Examine the impact of age, gender, and income on social media usage, addiction levels, and productivity loss.</a:t>
            </a:r>
            <a:endParaRPr sz="1250" dirty="0">
              <a:solidFill>
                <a:srgbClr val="333333"/>
              </a:solidFill>
              <a:highlight>
                <a:srgbClr val="F5F5F5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7620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2AA198"/>
                </a:solidFill>
                <a:highlight>
                  <a:srgbClr val="F5F5F5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3. Evaluate Device, OS, and Connectivity Factors</a:t>
            </a:r>
            <a:endParaRPr dirty="0">
              <a:solidFill>
                <a:srgbClr val="2AA198"/>
              </a:solidFill>
              <a:highlight>
                <a:srgbClr val="F5F5F5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333333"/>
                </a:solidFill>
                <a:highlight>
                  <a:srgbClr val="F5F5F5"/>
                </a:highlight>
                <a:latin typeface="Montserrat"/>
                <a:ea typeface="Montserrat"/>
                <a:cs typeface="Montserrat"/>
                <a:sym typeface="Montserrat"/>
              </a:rPr>
              <a:t>Investigate how different devices (smartphones, computers, tablets), operating systems, and connection types (Wi-Fi vs. mobile data) affect the amount of time spent on social media.</a:t>
            </a:r>
            <a:endParaRPr sz="1250" dirty="0">
              <a:solidFill>
                <a:srgbClr val="333333"/>
              </a:solidFill>
              <a:highlight>
                <a:srgbClr val="F5F5F5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7620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2AA198"/>
                </a:solidFill>
                <a:highlight>
                  <a:srgbClr val="F5F5F5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4. Study Content Engagement and Behavioral Impacts</a:t>
            </a:r>
            <a:endParaRPr dirty="0">
              <a:solidFill>
                <a:srgbClr val="2AA198"/>
              </a:solidFill>
              <a:highlight>
                <a:srgbClr val="F5F5F5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dirty="0">
                <a:solidFill>
                  <a:srgbClr val="333333"/>
                </a:solidFill>
                <a:highlight>
                  <a:srgbClr val="F5F5F5"/>
                </a:highlight>
                <a:latin typeface="Montserrat"/>
                <a:ea typeface="Montserrat"/>
                <a:cs typeface="Montserrat"/>
                <a:sym typeface="Montserrat"/>
              </a:rPr>
              <a:t>Understand how content type, video length, addiction, self-control, and watch reasons influence engagement, productivity loss, and overall social media time-wasting behavior.</a:t>
            </a:r>
            <a:endParaRPr sz="1250" dirty="0">
              <a:solidFill>
                <a:srgbClr val="333333"/>
              </a:solidFill>
              <a:highlight>
                <a:srgbClr val="F5F5F5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500"/>
              </a:spcBef>
              <a:spcAft>
                <a:spcPts val="1200"/>
              </a:spcAft>
              <a:buNone/>
            </a:pPr>
            <a:endParaRPr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363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4000" b="1">
                <a:solidFill>
                  <a:srgbClr val="1F3B73"/>
                </a:solidFill>
                <a:latin typeface="Montserrat"/>
                <a:ea typeface="Montserrat"/>
                <a:cs typeface="Montserrat"/>
                <a:sym typeface="Montserrat"/>
              </a:rPr>
              <a:t>1. Platform-Wise Usage Patterns</a:t>
            </a:r>
            <a:endParaRPr sz="4000" b="1">
              <a:solidFill>
                <a:srgbClr val="1F3B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4107125" y="1289675"/>
            <a:ext cx="4855500" cy="3619500"/>
          </a:xfrm>
          <a:prstGeom prst="rect">
            <a:avLst/>
          </a:prstGeom>
          <a:solidFill>
            <a:srgbClr val="F5F5F5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Montserrat Medium"/>
              <a:buChar char="●"/>
            </a:pPr>
            <a:r>
              <a:rPr lang="en" sz="20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Facebook</a:t>
            </a:r>
            <a:r>
              <a:rPr lang="en" sz="20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slightly dominates (</a:t>
            </a:r>
            <a:r>
              <a:rPr lang="en" sz="20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26%</a:t>
            </a:r>
            <a:r>
              <a:rPr lang="en" sz="20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20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Montserrat Medium"/>
              <a:buChar char="●"/>
            </a:pPr>
            <a:r>
              <a:rPr lang="en" sz="20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Instagram</a:t>
            </a:r>
            <a:r>
              <a:rPr lang="en" sz="20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lowest (</a:t>
            </a:r>
            <a:r>
              <a:rPr lang="en" sz="20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24%</a:t>
            </a:r>
            <a:r>
              <a:rPr lang="en" sz="20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); </a:t>
            </a:r>
            <a:r>
              <a:rPr lang="en" sz="20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YouTube &amp; TikTok</a:t>
            </a:r>
            <a:r>
              <a:rPr lang="en" sz="20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nearly equal (</a:t>
            </a:r>
            <a:r>
              <a:rPr lang="en" sz="20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r>
              <a:rPr lang="en" sz="20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20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Montserrat Medium"/>
              <a:buChar char="●"/>
            </a:pPr>
            <a:r>
              <a:rPr lang="en" sz="20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Usage is almost evenly distributed across all platforms</a:t>
            </a:r>
            <a:endParaRPr sz="20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n" sz="2000" i="1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All major platforms contribute equally to time-wasting</a:t>
            </a:r>
            <a:endParaRPr sz="2000" i="1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425" y="1386575"/>
            <a:ext cx="3196162" cy="3238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148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1F3B73"/>
                </a:solidFill>
                <a:latin typeface="Montserrat"/>
                <a:ea typeface="Montserrat"/>
                <a:cs typeface="Montserrat"/>
                <a:sym typeface="Montserrat"/>
              </a:rPr>
              <a:t>2. Demographic Influences</a:t>
            </a:r>
            <a:endParaRPr sz="3600" b="1" dirty="0">
              <a:solidFill>
                <a:srgbClr val="1F3B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151500" y="3700329"/>
            <a:ext cx="8841000" cy="1338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Age &amp; gender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no major differences in time spent</a:t>
            </a:r>
            <a:endParaRPr sz="1500" dirty="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Lower income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higher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addiction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more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debt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greater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productivity loss</a:t>
            </a:r>
            <a:endParaRPr sz="15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Higher income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lower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addiction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less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debt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better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productivity</a:t>
            </a:r>
            <a:endParaRPr sz="15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n" sz="1500" i="1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Socio-economic status, not age/gender, drives addictive usage</a:t>
            </a:r>
            <a:endParaRPr sz="1500" i="1" dirty="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75825"/>
            <a:ext cx="4000051" cy="249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8825" y="975950"/>
            <a:ext cx="4193476" cy="291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en" sz="3750" b="1" dirty="0">
                <a:solidFill>
                  <a:srgbClr val="1F3B73"/>
                </a:solidFill>
                <a:latin typeface="Montserrat"/>
                <a:ea typeface="Montserrat"/>
                <a:cs typeface="Montserrat"/>
                <a:sym typeface="Montserrat"/>
              </a:rPr>
              <a:t>3. Device, OS &amp; Connectivity Factors</a:t>
            </a:r>
            <a:endParaRPr sz="3750" b="1" dirty="0">
              <a:solidFill>
                <a:srgbClr val="1F3B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3401226"/>
            <a:ext cx="8520600" cy="1742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Smartphones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(esp.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Android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most popular device</a:t>
            </a:r>
            <a:endParaRPr sz="1500" dirty="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 spent is similar across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smartphones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computers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tablets</a:t>
            </a:r>
            <a:endParaRPr sz="15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Mobile Data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users spend slightly more time than </a:t>
            </a:r>
            <a:r>
              <a:rPr lang="en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Wi-Fi</a:t>
            </a:r>
            <a:r>
              <a:rPr lang="en" sz="1500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users</a:t>
            </a:r>
            <a:endParaRPr sz="1500" dirty="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n" sz="1500" i="1" dirty="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Device &amp; connection type don’t change usage time much — smartphones simply make access easier</a:t>
            </a:r>
            <a:endParaRPr sz="1500" i="1" dirty="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700" y="1299200"/>
            <a:ext cx="3332224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775" y="1299200"/>
            <a:ext cx="3228977" cy="220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123675"/>
            <a:ext cx="8520600" cy="11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0" b="1" dirty="0">
                <a:solidFill>
                  <a:srgbClr val="1F3B73"/>
                </a:solidFill>
                <a:latin typeface="Montserrat"/>
                <a:ea typeface="Montserrat"/>
                <a:cs typeface="Montserrat"/>
                <a:sym typeface="Montserrat"/>
              </a:rPr>
              <a:t>4. Content Engagement &amp; Behavioral Impacts</a:t>
            </a:r>
            <a:endParaRPr sz="3350" b="1" dirty="0">
              <a:solidFill>
                <a:srgbClr val="1F3B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50100" y="3215850"/>
            <a:ext cx="9043800" cy="18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Montserrat Medium"/>
              <a:buChar char="●"/>
            </a:pP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Pranks &amp; Vlogs</a:t>
            </a: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longest watch times (</a:t>
            </a: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~16–17 mins</a:t>
            </a: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); </a:t>
            </a: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Trends</a:t>
            </a: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lowest (</a:t>
            </a: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~14 mins</a:t>
            </a: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2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Entertainment-based content keeps users engaged longer than casual/trendy content</a:t>
            </a:r>
            <a:endParaRPr sz="12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Montserrat Medium"/>
              <a:buChar char="●"/>
            </a:pP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Higher addiction</a:t>
            </a: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lower </a:t>
            </a: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productivity</a:t>
            </a:r>
            <a:endParaRPr sz="1200" b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Procrastination &amp; habit → main motivators; </a:t>
            </a: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entertainment dominates</a:t>
            </a: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at higher addiction levels (linked to greatest </a:t>
            </a: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productivity loss</a:t>
            </a: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2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Montserrat Medium"/>
              <a:buChar char="●"/>
            </a:pPr>
            <a:r>
              <a:rPr lang="en" sz="1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Debt</a:t>
            </a: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appears more in mid–high addiction groups</a:t>
            </a:r>
            <a:endParaRPr sz="12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n" sz="1200" i="1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Entertainment boosts engagement but fuels </a:t>
            </a:r>
            <a:r>
              <a:rPr lang="en" sz="1200" b="1" i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addiction</a:t>
            </a:r>
            <a:r>
              <a:rPr lang="en" sz="1200" i="1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reduces </a:t>
            </a:r>
            <a:r>
              <a:rPr lang="en" sz="1200" b="1" i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productivity</a:t>
            </a:r>
            <a:r>
              <a:rPr lang="en" sz="1200" i="1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increases </a:t>
            </a:r>
            <a:r>
              <a:rPr lang="en" sz="1200" b="1" i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financial risk</a:t>
            </a:r>
            <a:endParaRPr sz="1200" b="1" i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1775"/>
            <a:ext cx="5061699" cy="19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6500" y="1301775"/>
            <a:ext cx="3509801" cy="19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209425"/>
            <a:ext cx="8520600" cy="665100"/>
          </a:xfrm>
          <a:prstGeom prst="rect">
            <a:avLst/>
          </a:prstGeom>
          <a:solidFill>
            <a:srgbClr val="F5F5F5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en" sz="4000" b="1">
                <a:solidFill>
                  <a:srgbClr val="1F3B73"/>
                </a:solidFill>
                <a:highlight>
                  <a:srgbClr val="F5F5F5"/>
                </a:highlight>
                <a:latin typeface="Montserrat"/>
                <a:ea typeface="Montserrat"/>
                <a:cs typeface="Montserrat"/>
                <a:sym typeface="Montserrat"/>
              </a:rPr>
              <a:t>Final Overall Insight</a:t>
            </a:r>
            <a:endParaRPr sz="4000" b="1">
              <a:solidFill>
                <a:srgbClr val="1F3B73"/>
              </a:solidFill>
              <a:highlight>
                <a:srgbClr val="F5F5F5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0" y="874525"/>
            <a:ext cx="91440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8800">
                <a:solidFill>
                  <a:srgbClr val="2AA19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Insights:</a:t>
            </a:r>
            <a:endParaRPr sz="8800">
              <a:solidFill>
                <a:srgbClr val="2AA19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7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Platform-Wise Usage</a:t>
            </a:r>
            <a:r>
              <a:rPr lang="en" sz="7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All major platforms contribute to time-wasting (Facebook 26%, Instagram 24%, YouTube &amp; TikTok 25%).</a:t>
            </a:r>
            <a:endParaRPr sz="7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7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r>
              <a:rPr lang="en" sz="7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Age &amp; gender → no major differences. Socio-economic status drives addiction and productivity loss.</a:t>
            </a:r>
            <a:endParaRPr sz="7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7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Device &amp; Connectivity</a:t>
            </a:r>
            <a:r>
              <a:rPr lang="en" sz="7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Smartphones enable constant access; device/connection type doesn’t change total usage.</a:t>
            </a:r>
            <a:endParaRPr sz="7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7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Content &amp; Behavior</a:t>
            </a:r>
            <a:r>
              <a:rPr lang="en" sz="7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Entertainment-heavy content → longer engagement, higher addiction, lower productivity, and more financial risk.</a:t>
            </a:r>
            <a:br>
              <a:rPr lang="en" sz="7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7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800">
                <a:solidFill>
                  <a:srgbClr val="2AA19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Closing Thought:</a:t>
            </a:r>
            <a:endParaRPr sz="8800">
              <a:solidFill>
                <a:srgbClr val="2AA19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38100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 i="1">
                <a:solidFill>
                  <a:srgbClr val="555555"/>
                </a:solidFill>
              </a:rPr>
              <a:t>“It’s not just how much time people spend, but </a:t>
            </a:r>
            <a:r>
              <a:rPr lang="en" sz="6000" b="1" i="1">
                <a:solidFill>
                  <a:srgbClr val="555555"/>
                </a:solidFill>
              </a:rPr>
              <a:t>what they consume, why they watch, and how it affects habits</a:t>
            </a:r>
            <a:r>
              <a:rPr lang="en" sz="6000" i="1">
                <a:solidFill>
                  <a:srgbClr val="555555"/>
                </a:solidFill>
              </a:rPr>
              <a:t>. Motivation &amp; behavior are key to reducing addiction and productivity loss.”</a:t>
            </a:r>
            <a:endParaRPr sz="6000" i="1">
              <a:solidFill>
                <a:srgbClr val="55555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500"/>
              </a:spcAft>
              <a:buNone/>
            </a:pP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197300"/>
            <a:ext cx="85206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F3B73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 ✅</a:t>
            </a:r>
            <a:endParaRPr sz="3600" b="1">
              <a:solidFill>
                <a:srgbClr val="1F3B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0" y="800900"/>
            <a:ext cx="9144000" cy="4342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000" dirty="0">
                <a:solidFill>
                  <a:srgbClr val="2AA19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Individuals 👤</a:t>
            </a:r>
            <a:endParaRPr sz="8000" dirty="0">
              <a:solidFill>
                <a:srgbClr val="2AA19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screen-time trackers &amp; app limits</a:t>
            </a:r>
            <a:endParaRPr sz="60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Avoid 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late-night scrolling</a:t>
            </a: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; prefer 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set browsing windows</a:t>
            </a:r>
            <a:endParaRPr sz="60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Choose quality/educational content over endless entertainment</a:t>
            </a:r>
            <a:b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60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000" dirty="0">
                <a:solidFill>
                  <a:srgbClr val="2AA19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Organizations 🏢</a:t>
            </a:r>
            <a:endParaRPr sz="8000" dirty="0">
              <a:solidFill>
                <a:srgbClr val="2AA19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Conduct 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digital well-being &amp; productivity workshops</a:t>
            </a:r>
            <a:endParaRPr sz="60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Train employees on 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procrastination &amp; focus management</a:t>
            </a:r>
            <a:endParaRPr sz="60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Educate on 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financial &amp; mental impact</a:t>
            </a: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of overuse</a:t>
            </a:r>
            <a:b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60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000" dirty="0">
                <a:solidFill>
                  <a:srgbClr val="2AA19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Policymakers / Platforms 🌍</a:t>
            </a:r>
            <a:endParaRPr sz="8000" dirty="0">
              <a:solidFill>
                <a:srgbClr val="2AA19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Add 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nudges, break reminders &amp; healthy feed designs</a:t>
            </a:r>
            <a:endParaRPr sz="60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Launch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awareness campaigns</a:t>
            </a: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for vulnerable groups</a:t>
            </a:r>
            <a:endParaRPr sz="60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Promote </a:t>
            </a:r>
            <a:r>
              <a:rPr lang="en" sz="60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digital wellness features</a:t>
            </a:r>
            <a:r>
              <a:rPr lang="en" sz="6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(dashboards, screen-time reports)</a:t>
            </a:r>
            <a:endParaRPr sz="60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F3B73"/>
                </a:solidFill>
                <a:highlight>
                  <a:srgbClr val="F5F5F5"/>
                </a:highlight>
                <a:latin typeface="Montserrat"/>
                <a:ea typeface="Montserrat"/>
                <a:cs typeface="Montserrat"/>
                <a:sym typeface="Montserrat"/>
              </a:rPr>
              <a:t>Conclusion 📝</a:t>
            </a:r>
            <a:endParaRPr sz="3600" b="1">
              <a:solidFill>
                <a:srgbClr val="1F3B73"/>
              </a:solidFill>
              <a:highlight>
                <a:srgbClr val="F5F5F5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257475"/>
            <a:ext cx="8520600" cy="37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lang="en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Social media time-wasting is driven by</a:t>
            </a:r>
            <a:r>
              <a:rPr lang="en" sz="1500">
                <a:solidFill>
                  <a:srgbClr val="333333"/>
                </a:solidFill>
              </a:rPr>
              <a:t> </a:t>
            </a:r>
            <a:r>
              <a:rPr lang="en" sz="15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behavior, habits, and content</a:t>
            </a:r>
            <a:r>
              <a:rPr lang="en" sz="1500">
                <a:solidFill>
                  <a:srgbClr val="333333"/>
                </a:solidFill>
              </a:rPr>
              <a:t>, </a:t>
            </a:r>
            <a:r>
              <a:rPr lang="en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not age, gender, or device.</a:t>
            </a:r>
            <a:br>
              <a:rPr lang="en" sz="1500">
                <a:solidFill>
                  <a:srgbClr val="333333"/>
                </a:solidFill>
              </a:rPr>
            </a:br>
            <a:endParaRPr sz="1500">
              <a:solidFill>
                <a:srgbClr val="333333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lang="en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Addiction and productivity loss are strongly linked to income and debt levels.</a:t>
            </a:r>
            <a:br>
              <a:rPr lang="en" sz="1500">
                <a:solidFill>
                  <a:srgbClr val="333333"/>
                </a:solidFill>
              </a:rPr>
            </a:br>
            <a:endParaRPr sz="1500">
              <a:solidFill>
                <a:srgbClr val="333333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lang="en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Entertainment-heavy content boosts engagement but</a:t>
            </a:r>
            <a:r>
              <a:rPr lang="en" sz="1500">
                <a:solidFill>
                  <a:srgbClr val="333333"/>
                </a:solidFill>
              </a:rPr>
              <a:t> </a:t>
            </a:r>
            <a:r>
              <a:rPr lang="en" sz="15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reinforces addiction and lowers productivity</a:t>
            </a:r>
            <a:r>
              <a:rPr lang="en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" sz="1500">
                <a:solidFill>
                  <a:srgbClr val="333333"/>
                </a:solidFill>
              </a:rPr>
            </a:br>
            <a:endParaRPr sz="1500">
              <a:solidFill>
                <a:srgbClr val="333333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lang="en" sz="15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Actionable steps</a:t>
            </a:r>
            <a:r>
              <a:rPr lang="en" sz="1500" b="1">
                <a:solidFill>
                  <a:srgbClr val="333333"/>
                </a:solidFill>
              </a:rPr>
              <a:t>:</a:t>
            </a:r>
            <a:r>
              <a:rPr lang="en" sz="1500">
                <a:solidFill>
                  <a:srgbClr val="333333"/>
                </a:solidFill>
              </a:rPr>
              <a:t> </a:t>
            </a:r>
            <a:r>
              <a:rPr lang="en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Individuals track usage; organizations run well-being workshops; platforms add nudges and digital wellness tools.</a:t>
            </a:r>
            <a:br>
              <a:rPr lang="en" sz="1500">
                <a:solidFill>
                  <a:srgbClr val="333333"/>
                </a:solidFill>
              </a:rPr>
            </a:br>
            <a:endParaRPr sz="15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r>
              <a:rPr lang="en" sz="1500" b="1">
                <a:solidFill>
                  <a:srgbClr val="333333"/>
                </a:solidFill>
              </a:rPr>
              <a:t>:</a:t>
            </a:r>
            <a:r>
              <a:rPr lang="en" sz="1500">
                <a:solidFill>
                  <a:srgbClr val="333333"/>
                </a:solidFill>
              </a:rPr>
              <a:t> </a:t>
            </a:r>
            <a:r>
              <a:rPr lang="en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Reducing addiction requires </a:t>
            </a:r>
            <a:r>
              <a:rPr lang="en" sz="15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shaping habits and mindful content consumption</a:t>
            </a:r>
            <a:r>
              <a:rPr lang="en" sz="1500">
                <a:solidFill>
                  <a:srgbClr val="333333"/>
                </a:solidFill>
              </a:rPr>
              <a:t>, </a:t>
            </a:r>
            <a:r>
              <a:rPr lang="en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not just limiting screen time.</a:t>
            </a:r>
            <a:endParaRPr sz="15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0"/>
            <a:ext cx="85206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400" b="1" i="1" dirty="0">
                <a:solidFill>
                  <a:srgbClr val="1F3B73"/>
                </a:solidFill>
                <a:latin typeface="Montserrat"/>
                <a:ea typeface="Montserrat"/>
                <a:cs typeface="Montserrat"/>
                <a:sym typeface="Montserrat"/>
              </a:rPr>
              <a:t>Thank You 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On-screen Show (16:9)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</vt:lpstr>
      <vt:lpstr>Arial</vt:lpstr>
      <vt:lpstr>Montserrat Medium</vt:lpstr>
      <vt:lpstr>Montserrat SemiBold</vt:lpstr>
      <vt:lpstr>Simple Light</vt:lpstr>
      <vt:lpstr>Time-Wasters on Social Media</vt:lpstr>
      <vt:lpstr>PowerPoint Presentation</vt:lpstr>
      <vt:lpstr>Objectives</vt:lpstr>
      <vt:lpstr> 1. Platform-Wise Usage Patterns</vt:lpstr>
      <vt:lpstr>2. Demographic Influences</vt:lpstr>
      <vt:lpstr> 3. Device, OS &amp; Connectivity Factors</vt:lpstr>
      <vt:lpstr>4. Content Engagement &amp; Behavioral Impacts</vt:lpstr>
      <vt:lpstr>Final Overall Insight </vt:lpstr>
      <vt:lpstr>Recommendations ✅</vt:lpstr>
      <vt:lpstr>Conclusion 📝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Time-Wasters on Social Media</dc:title>
  <cp:lastModifiedBy>HP</cp:lastModifiedBy>
  <cp:revision>1</cp:revision>
  <dcterms:modified xsi:type="dcterms:W3CDTF">2025-09-29T08:03:40Z</dcterms:modified>
</cp:coreProperties>
</file>